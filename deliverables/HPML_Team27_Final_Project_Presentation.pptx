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Inter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Thomas Ajai"/>
  <p:cmAuthor clrIdx="1" id="1" initials="" lastIdx="2" name="Jonathan 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23DA0D-3247-4FCA-89C2-B215055A475C}">
  <a:tblStyle styleId="{B523DA0D-3247-4FCA-89C2-B215055A47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B82A896-C002-4281-9DA5-8DA249A7CE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7T18:26:49.154">
    <p:pos x="216" y="237"/>
    <p:text>me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07T18:26:55.620">
    <p:pos x="216" y="237"/>
    <p:text>me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5-07T18:26:38.346">
    <p:pos x="216" y="237"/>
    <p:text>me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5-07T17:59:24.056">
    <p:pos x="6000" y="0"/>
    <p:text>me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5-07T17:58:56.801">
    <p:pos x="6000" y="0"/>
    <p:text>me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dd826ea128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dd826ea128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Team 27, and our project focuses on Performance optimization of TSFM Agent in an Industrial Agentic Benchmark. This is a mentor-guided project under Mr. Dhaval Patel, and our goal was to optimize the TSFM MCP agent, specifically for IBM’s AssetOpsBench. </a:t>
            </a:r>
            <a:endParaRPr/>
          </a:p>
        </p:txBody>
      </p:sp>
      <p:sp>
        <p:nvSpPr>
          <p:cNvPr id="10" name="Google Shape;10;g3dd826ea128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9aa7060827_2_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g39aa7060827_2_2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optimization </a:t>
            </a:r>
            <a:r>
              <a:rPr lang="en"/>
              <a:t>necessary</a:t>
            </a:r>
            <a:r>
              <a:rPr lang="en"/>
              <a:t>? In industrial </a:t>
            </a:r>
            <a:r>
              <a:rPr lang="en"/>
              <a:t>maintenance</a:t>
            </a:r>
            <a:r>
              <a:rPr lang="en"/>
              <a:t>, </a:t>
            </a:r>
            <a:r>
              <a:rPr lang="en"/>
              <a:t>reliable</a:t>
            </a:r>
            <a:r>
              <a:rPr lang="en"/>
              <a:t> time series forecasting is essential for operational efficiency. We identified that the current MCP tool calls suffer from high latency due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Repeated model loading from disk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filtering overhead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Inefficient inference that does not scale well across multiple sensors. Our goal was to profile these bottleneecks and implement the targeted optimizations to reduce per-tool-call and end-to-end latency while preserving the </a:t>
            </a:r>
            <a:r>
              <a:rPr lang="en"/>
              <a:t>forecast</a:t>
            </a:r>
            <a:r>
              <a:rPr lang="en"/>
              <a:t> quality. </a:t>
            </a:r>
            <a:endParaRPr/>
          </a:p>
        </p:txBody>
      </p:sp>
      <p:sp>
        <p:nvSpPr>
          <p:cNvPr id="21" name="Google Shape;21;g39aa7060827_2_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dd826ea128_2_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dd826ea128_2_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tackle this, we used the following stack: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model, we used IBM Research’s TinyTimeMixer which is a lightweight model with variants ranging from 1M-5M parameters. We evaluated two specific variants: </a:t>
            </a:r>
            <a:r>
              <a:rPr lang="en"/>
              <a:t>one</a:t>
            </a:r>
            <a:r>
              <a:rPr lang="en"/>
              <a:t> with 96 context length and 28 horizon and another with 512 contex length and 96 </a:t>
            </a:r>
            <a:r>
              <a:rPr lang="en"/>
              <a:t>horizon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</a:t>
            </a:r>
            <a:r>
              <a:rPr lang="en"/>
              <a:t>dataset</a:t>
            </a:r>
            <a:r>
              <a:rPr lang="en"/>
              <a:t>, we focused on the Chiller 6 sensor data that was given in the AssetOpsBench repository, and we did not split them into train and test, rather, we did zero shot inferencing across all the sensor datas.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hardware, we used a GCP cloud instance, with Nvidia T4 GPU, and for the </a:t>
            </a:r>
            <a:r>
              <a:rPr lang="en"/>
              <a:t>orchestrator, we used IBM Granite 3.3 via the Watsonx API to manage the agentic workflow. </a:t>
            </a:r>
            <a:r>
              <a:rPr lang="en"/>
              <a:t> </a:t>
            </a:r>
            <a:endParaRPr/>
          </a:p>
        </p:txBody>
      </p:sp>
      <p:sp>
        <p:nvSpPr>
          <p:cNvPr id="37" name="Google Shape;37;g3dd826ea128_2_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826ea128_2_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826ea128_2_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implemented three technical shifts to </a:t>
            </a:r>
            <a:r>
              <a:rPr lang="en"/>
              <a:t>improve</a:t>
            </a:r>
            <a:r>
              <a:rPr lang="en"/>
              <a:t> performance: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pre-loading: We eliminated the cold start overhead by loading the model at server </a:t>
            </a:r>
            <a:r>
              <a:rPr lang="en"/>
              <a:t>startup</a:t>
            </a:r>
            <a:r>
              <a:rPr lang="en"/>
              <a:t> rather than on every tool call. Using torch.compile, we fused over 19,000 CUDA </a:t>
            </a:r>
            <a:r>
              <a:rPr lang="en"/>
              <a:t>kernel launches into fewer faster operations.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Trainer Replacement: The standard Hugginface trainer adds nearly 458ms of overhead due to Dataloader loops and memory copies. We replaced this with a direct batched model call to process samples in one shot.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Mixed precision: We wrapped the forward pass in torch.autocast using bfloat16, which halves the activation memory and enables Tensor Core acceleration on the GPU. </a:t>
            </a:r>
            <a:endParaRPr/>
          </a:p>
        </p:txBody>
      </p:sp>
      <p:sp>
        <p:nvSpPr>
          <p:cNvPr id="55" name="Google Shape;55;g3dd826ea128_2_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d826ea128_2_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dd826ea128_2_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ensure our optimizations were </a:t>
            </a:r>
            <a:r>
              <a:rPr lang="en"/>
              <a:t>effective</a:t>
            </a:r>
            <a:r>
              <a:rPr lang="en"/>
              <a:t>, we used the following profiling tools: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profiler: To identify kernel level </a:t>
            </a:r>
            <a:r>
              <a:rPr lang="en"/>
              <a:t>timing</a:t>
            </a:r>
            <a:r>
              <a:rPr lang="en"/>
              <a:t> and the 19,032 specific kernel launches per forward pass.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Weights and Biases: For tracking metrics across all optimization configurations.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TSFMProfiler: This allowed us to measure wall-clock timing for specific stages like preprocessing.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Metrics: We focused on per-stage latency, peak VRAM usage and how the model scales as we increase the number of sensors. </a:t>
            </a:r>
            <a:endParaRPr/>
          </a:p>
        </p:txBody>
      </p:sp>
      <p:sp>
        <p:nvSpPr>
          <p:cNvPr id="75" name="Google Shape;75;g3dd826ea128_2_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826ea128_2_1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d826ea128_2_1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d826ea128_2_1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d826ea128_2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dd826ea128_2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d826ea128_2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826ea128_2_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d826ea128_2_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d826ea128_2_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d826ea128_3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d826ea128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d826ea128_2_1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d826ea128_2_1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d826ea128_2_1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d826ea128_3_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d826ea128_3_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d826ea128_3_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826ea128_2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d826ea128_2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d826ea128_2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826ea128_3_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d826ea128_3_7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tm _forward is inference part</a:t>
            </a:r>
            <a:endParaRPr/>
          </a:p>
        </p:txBody>
      </p:sp>
      <p:sp>
        <p:nvSpPr>
          <p:cNvPr id="174" name="Google Shape;174;g3dd826ea128_3_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a7060827_2_1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aa7060827_2_12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aa7060827_2_1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d826ea128_2_1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dd826ea128_2_14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d826ea128_2_1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d826ea128_2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dd826ea128_2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d826ea128_2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d826ea128_2_1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dd826ea128_2_1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dd826ea128_2_1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Relationship Id="rId4" Type="http://schemas.openxmlformats.org/officeDocument/2006/relationships/hyperlink" Target="http://drive.google.com/file/d/1FUJQHm6iImE3NY7AUB_edyJBF-dykBR6/view" TargetMode="External"/><Relationship Id="rId5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4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11480" y="41148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11480" y="1508760"/>
            <a:ext cx="8229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Optimization of</a:t>
            </a:r>
            <a:endParaRPr b="1" sz="4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TSFM Agent in an</a:t>
            </a:r>
            <a:endParaRPr b="1" sz="4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 Agentic Benchmark</a:t>
            </a:r>
            <a:endParaRPr b="1" sz="4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t/>
            </a:r>
            <a:endParaRPr b="1" sz="4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11480" y="2640248"/>
            <a:ext cx="822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1500"/>
              <a:buFont typeface="Calibri"/>
              <a:buNone/>
            </a:pPr>
            <a:r>
              <a:rPr lang="en" sz="1100">
                <a:solidFill>
                  <a:schemeClr val="lt1"/>
                </a:solidFill>
              </a:rPr>
              <a:t>Optimization of the TSFM MCP agent in IBM's AssetOpsBench industrial AI benchmark, achieving a </a:t>
            </a:r>
            <a:r>
              <a:rPr b="1" lang="en" sz="1100">
                <a:solidFill>
                  <a:schemeClr val="lt1"/>
                </a:solidFill>
              </a:rPr>
              <a:t>3.3x reduction in workflow completion latency</a:t>
            </a:r>
            <a:r>
              <a:rPr lang="en" sz="1100">
                <a:solidFill>
                  <a:schemeClr val="lt1"/>
                </a:solidFill>
              </a:rPr>
              <a:t> 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11480" y="34290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Alisha Vinod </a:t>
            </a:r>
            <a:r>
              <a:rPr b="0" i="0" lang="en" sz="10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av3311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Thomas Ajai </a:t>
            </a:r>
            <a:r>
              <a:rPr b="0" i="0" lang="en" sz="10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tl3444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CCD2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Jonathan Ang </a:t>
            </a:r>
            <a:r>
              <a:rPr b="0" i="0" lang="en" sz="10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ma4624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Sanjaii Vijayakumar </a:t>
            </a:r>
            <a:r>
              <a:rPr b="0" i="0" lang="en" sz="1000" u="none" cap="none" strike="noStrike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lang="en" sz="10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rPr>
              <a:t>sv2851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100500" y="3428938"/>
            <a:ext cx="5922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https://github.com/alishavinod/AssetOpsBench/tree/baseline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https://wandb.ai/av3311-columbia-university/hpml-tsfm-optimization/workspace?nw=nwuserav3311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80" y="480060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&amp; Problem</a:t>
            </a:r>
            <a:endParaRPr b="1"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342900" y="1333500"/>
            <a:ext cx="4114800" cy="3238500"/>
            <a:chOff x="342900" y="1333500"/>
            <a:chExt cx="4114800" cy="3238500"/>
          </a:xfrm>
        </p:grpSpPr>
        <p:sp>
          <p:nvSpPr>
            <p:cNvPr id="25" name="Google Shape;25;p4"/>
            <p:cNvSpPr/>
            <p:nvPr/>
          </p:nvSpPr>
          <p:spPr>
            <a:xfrm>
              <a:off x="342900" y="1333500"/>
              <a:ext cx="4114800" cy="3238500"/>
            </a:xfrm>
            <a:prstGeom prst="roundRect">
              <a:avLst>
                <a:gd fmla="val 2352" name="adj"/>
              </a:avLst>
            </a:prstGeom>
            <a:solidFill>
              <a:srgbClr val="2D31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 txBox="1"/>
            <p:nvPr/>
          </p:nvSpPr>
          <p:spPr>
            <a:xfrm>
              <a:off x="533400" y="1476375"/>
              <a:ext cx="3733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Why this matters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 txBox="1"/>
            <p:nvPr/>
          </p:nvSpPr>
          <p:spPr>
            <a:xfrm>
              <a:off x="533400" y="1905000"/>
              <a:ext cx="3733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8CCD2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C8CCD2"/>
                  </a:solidFill>
                  <a:latin typeface="Calibri"/>
                  <a:ea typeface="Calibri"/>
                  <a:cs typeface="Calibri"/>
                  <a:sym typeface="Calibri"/>
                </a:rPr>
                <a:t>Industrial maintenance workflows depend on fast, reliable TSFM forecasting.</a:t>
              </a:r>
              <a:endParaRPr sz="11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8CCD2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C8CCD2"/>
                  </a:solidFill>
                  <a:latin typeface="Calibri"/>
                  <a:ea typeface="Calibri"/>
                  <a:cs typeface="Calibri"/>
                  <a:sym typeface="Calibri"/>
                </a:rPr>
                <a:t>Current MCP tool calls add latency from model loading, data filtering, and inference.</a:t>
              </a:r>
              <a:endParaRPr sz="11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C8CCD2"/>
                </a:buClr>
                <a:buSzPts val="1100"/>
                <a:buFont typeface="Calibri"/>
                <a:buChar char="●"/>
              </a:pPr>
              <a:r>
                <a:rPr lang="en" sz="1100">
                  <a:solidFill>
                    <a:srgbClr val="C8CCD2"/>
                  </a:solidFill>
                  <a:latin typeface="Calibri"/>
                  <a:ea typeface="Calibri"/>
                  <a:cs typeface="Calibri"/>
                  <a:sym typeface="Calibri"/>
                </a:rPr>
                <a:t>A naive baseline makes workflows slower and harder to scale across many sensors.</a:t>
              </a:r>
              <a:endParaRPr sz="11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4"/>
          <p:cNvGrpSpPr/>
          <p:nvPr/>
        </p:nvGrpSpPr>
        <p:grpSpPr>
          <a:xfrm>
            <a:off x="4686300" y="1333500"/>
            <a:ext cx="4114800" cy="3238500"/>
            <a:chOff x="4686300" y="1333500"/>
            <a:chExt cx="4114800" cy="3238500"/>
          </a:xfrm>
        </p:grpSpPr>
        <p:sp>
          <p:nvSpPr>
            <p:cNvPr id="29" name="Google Shape;29;p4"/>
            <p:cNvSpPr/>
            <p:nvPr/>
          </p:nvSpPr>
          <p:spPr>
            <a:xfrm>
              <a:off x="4686300" y="1333500"/>
              <a:ext cx="4114800" cy="3238500"/>
            </a:xfrm>
            <a:prstGeom prst="roundRect">
              <a:avLst>
                <a:gd fmla="val 2352" name="adj"/>
              </a:avLst>
            </a:prstGeom>
            <a:solidFill>
              <a:srgbClr val="2D313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 txBox="1"/>
            <p:nvPr/>
          </p:nvSpPr>
          <p:spPr>
            <a:xfrm>
              <a:off x="4876800" y="1476375"/>
              <a:ext cx="3733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 &amp; Goal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 txBox="1"/>
            <p:nvPr/>
          </p:nvSpPr>
          <p:spPr>
            <a:xfrm>
              <a:off x="4876800" y="1905000"/>
              <a:ext cx="3733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8CCD2"/>
                  </a:solidFill>
                  <a:latin typeface="Calibri"/>
                  <a:ea typeface="Calibri"/>
                  <a:cs typeface="Calibri"/>
                  <a:sym typeface="Calibri"/>
                </a:rPr>
                <a:t>We profile and optimize the TSFM MCP agent in IBM’s AssetOpsBench benchmark, targeting latency bottlenecks across data quality filtering, model loading, and forecasting inference.</a:t>
              </a:r>
              <a:endParaRPr sz="1100">
                <a:solidFill>
                  <a:srgbClr val="C8CCD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highlight>
                    <a:srgbClr val="383E4A"/>
                  </a:highlight>
                  <a:latin typeface="Calibri"/>
                  <a:ea typeface="Calibri"/>
                  <a:cs typeface="Calibri"/>
                  <a:sym typeface="Calibri"/>
                </a:rPr>
                <a:t>Goal:</a:t>
              </a:r>
              <a:endParaRPr b="1" sz="1100">
                <a:solidFill>
                  <a:srgbClr val="FFFFFF"/>
                </a:solidFill>
                <a:highlight>
                  <a:srgbClr val="383E4A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8CCD2"/>
                  </a:solidFill>
                  <a:highlight>
                    <a:srgbClr val="383E4A"/>
                  </a:highlight>
                  <a:latin typeface="Calibri"/>
                  <a:ea typeface="Calibri"/>
                  <a:cs typeface="Calibri"/>
                  <a:sym typeface="Calibri"/>
                </a:rPr>
                <a:t>Reduce per-tool-call and end-to-end workflow latency through three targeted optimizations while preserving forecast quality.</a:t>
              </a:r>
              <a:endParaRPr sz="1100">
                <a:solidFill>
                  <a:srgbClr val="C8CCD2"/>
                </a:solidFill>
                <a:highlight>
                  <a:srgbClr val="383E4A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/>
          <p:nvPr/>
        </p:nvSpPr>
        <p:spPr>
          <a:xfrm>
            <a:off x="342900" y="4800600"/>
            <a:ext cx="411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1" sz="800">
              <a:solidFill>
                <a:srgbClr val="8E9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686300" y="4800600"/>
            <a:ext cx="411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b="0" sz="800">
              <a:solidFill>
                <a:srgbClr val="8E9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Model &amp;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342900" y="1371600"/>
            <a:ext cx="2688336" cy="308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14350" y="1508760"/>
            <a:ext cx="23454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14350" y="1851660"/>
            <a:ext cx="234543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TinyTimeMixer (TTM) - IBM Research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Parameter count: ~1M (ttm_96_28), ~5M (ttm_512_96)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Framework: HuggingFace Transformers + granite-tsfm library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 variants: ttm_96_28 (context length 96, horizon 28) and ttm_512_96 (context length 512, horizon 96)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236976" y="1371600"/>
            <a:ext cx="2688336" cy="308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3408426" y="1508760"/>
            <a:ext cx="23454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408424" y="1851650"/>
            <a:ext cx="24909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IBM AssetOpsBench - Chiller 6 Sensor Data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chiller6_june2020_sensordata_couchdb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2,896 rows × 12 sensor columns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License: Apache 2.0 (IBM AssetOpsBench)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train/test splits - zero-shot inference only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Sensors: temperature, efficiency, tonnage, power input, flow rate, refrigerant pressure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131052" y="1371600"/>
            <a:ext cx="2688336" cy="308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302502" y="1508760"/>
            <a:ext cx="23454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302502" y="1851660"/>
            <a:ext cx="23454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GPU: NVIDIA T4 (GCP n1-standard-4 instance)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VRAM: 16GB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CUDA: 12.4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PyTorch: 2.6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Orchestrator LLM: IBM Granite 3.3 8B Instruct via watsonx.ai API 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Technical Approach — Optimizations Applied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6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6"/>
          <p:cNvSpPr/>
          <p:nvPr/>
        </p:nvSpPr>
        <p:spPr>
          <a:xfrm>
            <a:off x="371488" y="1260223"/>
            <a:ext cx="82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71488" y="1328802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48703" y="1328802"/>
            <a:ext cx="802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 Pre-loading and torch.compile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48678" y="1610368"/>
            <a:ext cx="8023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The TTM model re-initializes from disk on every tool call, loading it once at server startup and compiling the computation graph eliminates repeated cold-start overhead and fuses 19,032 CUDA kernel launches into fewer, faster operations.</a:t>
            </a:r>
            <a:endParaRPr i="0" sz="1100" u="none" cap="none" strike="noStrike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70363" y="2361255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47553" y="2361255"/>
            <a:ext cx="802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Trainer Replacement with Direct Model Call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47553" y="2696958"/>
            <a:ext cx="8023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The HuggingFace Trainer wraps inference in a DataLoader loop adding 458ms of unnecessary per-batch memcpy and tensor allocation overhead, a direct batched model call processes all samples in one shot.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70950" y="3297007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48115" y="3279857"/>
            <a:ext cx="802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Mixed-Precision Inference (bf16)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748115" y="3568598"/>
            <a:ext cx="8023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TTM runs in float32 by default, wrapping the forward pass in torch.autocast(dtype=torch.bfloat16) halves activation memory and enables Tensor Core acceleration on the T4 GPU.</a:t>
            </a:r>
            <a:endParaRPr i="0" sz="1100" u="none" cap="none" strike="noStrike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749240" y="4036635"/>
            <a:ext cx="8023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t/>
            </a:r>
            <a:endParaRPr i="0" sz="1100" u="none" cap="none" strike="noStrike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Profiling Methodology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7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7"/>
          <p:cNvSpPr/>
          <p:nvPr/>
        </p:nvSpPr>
        <p:spPr>
          <a:xfrm>
            <a:off x="342900" y="1371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42900" y="171450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PyTorch Profiler (torch.profiler) - kernel-level CPU/CUDA timing, 19,032 kernel launches identified per forward pass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&amp; Biases - run-level metric tracking across all optimization configurations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TSFMProfiler - per-stage wall-clock timing (data loading, preprocessing, model loading, ttm_forward, postprocessing)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697730" y="13716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 captured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697730" y="171450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Per-stage latency: data loading, preprocessing, model loading, ttm_forward, postprocessing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workflow completion latency (end-to-end)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Peak GPU memory (VRAM) per stage in MB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Model loading overhead per tool call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n_sensors scaling (1, 2, 5, 9 sensors)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Speedup ratio across optimization configurations (baseline, GPU, bf16)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8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2" name="Google Shape;92;p8"/>
          <p:cNvGraphicFramePr/>
          <p:nvPr/>
        </p:nvGraphicFramePr>
        <p:xfrm>
          <a:off x="3429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{B523DA0D-3247-4FCA-89C2-B215055A475C}</a:tableStyleId>
              </a:tblPr>
              <a:tblGrid>
                <a:gridCol w="2400300"/>
                <a:gridCol w="3017500"/>
                <a:gridCol w="3038100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[FP32]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[FP32 + </a:t>
                      </a: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BF16]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NVIDIA T4 GPU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loading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 tool call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Pre-loaded at startup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 Trainer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model(**inputs) call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n1-standard-4, T4 16GB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n1-standard-4, T4 16GB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stack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2.6.0+cu124, granite-tsfm 0.3.6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[+torch.compile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8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329875" y="3776825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Pipeline: data loading, pre processing, model loading, ttm_forward, post processing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— Headline Numbers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9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9"/>
          <p:cNvSpPr/>
          <p:nvPr/>
        </p:nvSpPr>
        <p:spPr>
          <a:xfrm>
            <a:off x="342900" y="1714500"/>
            <a:ext cx="2688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800"/>
              <a:buFont typeface="Calibri"/>
              <a:buNone/>
            </a:pPr>
            <a:r>
              <a:rPr b="1" lang="en" sz="4800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3.3</a:t>
            </a:r>
            <a:r>
              <a:rPr b="1" i="0" lang="en" sz="4800" u="none" cap="none" strike="noStrike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342900" y="2880360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aster inference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42900" y="3188970"/>
            <a:ext cx="268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00"/>
              <a:buFont typeface="Calibri"/>
              <a:buNone/>
            </a:pP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40,161 ms → 16,000 ms (model loading)</a:t>
            </a:r>
            <a:endParaRPr i="1" sz="1100">
              <a:solidFill>
                <a:srgbClr val="6B6F7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00"/>
              <a:buFont typeface="Calibri"/>
              <a:buNone/>
            </a:pP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torch.compile + kernel fusion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3236976" y="1714500"/>
            <a:ext cx="2688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800"/>
              <a:buFont typeface="Calibri"/>
              <a:buNone/>
            </a:pPr>
            <a:r>
              <a:rPr b="1" lang="en" sz="4800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r>
              <a:rPr b="1" i="0" lang="en" sz="4800" u="none" cap="none" strike="noStrike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3236976" y="2880360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Reduction in in total workflow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3236976" y="3188970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00"/>
              <a:buFont typeface="Calibri"/>
              <a:buNone/>
            </a:pP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43,021 ms → 13,798 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131052" y="1714500"/>
            <a:ext cx="2688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5B2A"/>
              </a:buClr>
              <a:buSzPts val="4800"/>
              <a:buFont typeface="Calibri"/>
              <a:buNone/>
            </a:pPr>
            <a:r>
              <a:rPr b="1" lang="en" sz="4800">
                <a:solidFill>
                  <a:srgbClr val="C75B2A"/>
                </a:solidFill>
                <a:latin typeface="Calibri"/>
                <a:ea typeface="Calibri"/>
                <a:cs typeface="Calibri"/>
                <a:sym typeface="Calibri"/>
              </a:rPr>
              <a:t>9x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6131050" y="2880350"/>
            <a:ext cx="297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9x faster model loading overhead per tool call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6131052" y="3188970"/>
            <a:ext cx="26883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900"/>
              <a:buFont typeface="Calibri"/>
              <a:buNone/>
            </a:pP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233 ms → 26 ms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53238" y="4274195"/>
            <a:ext cx="84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All measurements averaged over </a:t>
            </a: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runs for 1,2,5,9 senso</a:t>
            </a:r>
            <a:r>
              <a:rPr i="1" lang="en" sz="11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— Before vs. After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0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0"/>
          <p:cNvSpPr/>
          <p:nvPr/>
        </p:nvSpPr>
        <p:spPr>
          <a:xfrm>
            <a:off x="6066780" y="1406025"/>
            <a:ext cx="294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5897875" y="1680225"/>
            <a:ext cx="2949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workflow latency reduced from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40,161 ms to 16,000 ms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3.3x speedup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torch.compile + model caching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three optimized configs (bf16, fp32_batching, fp32_model_caching) are identical at ~17,000ms - confirming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caching is the dominant optimization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GPU placement on top brings total latency to </a:t>
            </a: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13,798ms - 3.3x vs the true baseline of 43,021ms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bf16 shows no benefit over fp32, TTM's MLP architecture does not leverage Tensor Core acceleration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0" title="Screenshot 2026-05-07 at 1.45.47 PM.png"/>
          <p:cNvPicPr preferRelativeResize="0"/>
          <p:nvPr/>
        </p:nvPicPr>
        <p:blipFill rotWithShape="1">
          <a:blip r:embed="rId3">
            <a:alphaModFix/>
          </a:blip>
          <a:srcRect b="0" l="0" r="5285" t="0"/>
          <a:stretch/>
        </p:blipFill>
        <p:spPr>
          <a:xfrm>
            <a:off x="172150" y="1443925"/>
            <a:ext cx="5533701" cy="27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1" title="Screenshot 2026-05-06 at 11.50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00" y="769375"/>
            <a:ext cx="8981299" cy="432838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"/>
          <p:cNvSpPr txBox="1"/>
          <p:nvPr/>
        </p:nvSpPr>
        <p:spPr>
          <a:xfrm>
            <a:off x="311025" y="215275"/>
            <a:ext cx="863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Results - comparison of optimization across metrics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Profiler Evidence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2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2"/>
          <p:cNvSpPr/>
          <p:nvPr/>
        </p:nvSpPr>
        <p:spPr>
          <a:xfrm>
            <a:off x="342900" y="1371600"/>
            <a:ext cx="5829300" cy="308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342900" y="1371600"/>
            <a:ext cx="5829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[ Insert profiler trace, Nsight timeline, or torch.profiler chrome trace screenshot here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6343650" y="13716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What to point 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6343650" y="1714500"/>
            <a:ext cx="2469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Bottleneck before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Kernel that disappeared / fused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 gap that shrank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Memory copy avoided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2" title="Screenshot 2026-05-07 at 3.16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" y="1153650"/>
            <a:ext cx="8455926" cy="338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Profiler </a:t>
            </a:r>
            <a:r>
              <a:rPr b="1" lang="en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3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3"/>
          <p:cNvSpPr/>
          <p:nvPr/>
        </p:nvSpPr>
        <p:spPr>
          <a:xfrm>
            <a:off x="329000" y="9259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90200" y="1249875"/>
            <a:ext cx="8608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trace is dominated by torch.compile warmup 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_compile.compile_inner: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~8.4s CPU total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CUDA execution is active, but not the main bottleneck: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 CUDA time total: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~7.5ms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GPU kernels are present: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aten::mm and CUTLASS BF16 Tensor Core kernels appear in the trace.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transfer is small: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Memcpy HtoD: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~1.5ms total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BF16 is active, but not enough by itself: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and dtype conversion overhead reduces the benefit.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interpretation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compiled call is CPU/compiler dominated. The optimization only pays off when the model is compiled once, cached at server startup, and reused for later MCP tool calls.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takeaway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TinyTimeMixer, the biggest win came from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caching + direct compiled inference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from BF16 alone.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342900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 / Visualization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4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4"/>
          <p:cNvSpPr/>
          <p:nvPr/>
        </p:nvSpPr>
        <p:spPr>
          <a:xfrm>
            <a:off x="2159300" y="1469160"/>
            <a:ext cx="822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Time budget: 1 minute. Live demo, animated comparison, or short recorded clip.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342900" y="1577340"/>
            <a:ext cx="84559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[ Demo / GIF / Screen recording / Live notebook 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1714500" y="2468880"/>
            <a:ext cx="571271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Char char="•"/>
            </a:pP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Have a fallback static image in case live demo fails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Char char="•"/>
            </a:pP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Pre-load any models or data — do not wait for downloads on stage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6B6F76"/>
              </a:buClr>
              <a:buSzPts val="1100"/>
              <a:buFont typeface="Calibri"/>
              <a:buChar char="•"/>
            </a:pPr>
            <a:r>
              <a:rPr b="0" i="1" lang="en" sz="11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Narrate what to look at while it runs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4" title="forecasting.py - AssetOpsBench [SSH_ hpml-project-working] - Visual Studio Code 2026-05-07 14-03-18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2104" y="925838"/>
            <a:ext cx="6131184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lang="en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Ablation study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5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5"/>
          <p:cNvSpPr/>
          <p:nvPr/>
        </p:nvSpPr>
        <p:spPr>
          <a:xfrm>
            <a:off x="342900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5"/>
          <p:cNvGraphicFramePr/>
          <p:nvPr/>
        </p:nvGraphicFramePr>
        <p:xfrm>
          <a:off x="388600" y="120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{1B82A896-C002-4281-9DA5-8DA249A7CE63}</a:tableStyleId>
              </a:tblPr>
              <a:tblGrid>
                <a:gridCol w="3153575"/>
                <a:gridCol w="1579550"/>
                <a:gridCol w="2018675"/>
                <a:gridCol w="992975"/>
              </a:tblGrid>
              <a:tr h="45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Optimization Stack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ttm_forward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Speedup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CPU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~38,000ms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~41,000ms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1x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6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Model caching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~16,000ms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~17,000ms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2.4x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47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bf16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~16,000ms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~17,000ms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7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 using GPU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~12,293ms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~13,798ms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3.3x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/>
          <p:nvPr/>
        </p:nvSpPr>
        <p:spPr>
          <a:xfrm>
            <a:off x="342900" y="1371600"/>
            <a:ext cx="4114800" cy="3333900"/>
          </a:xfrm>
          <a:prstGeom prst="roundRect">
            <a:avLst>
              <a:gd fmla="val 228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4695825" y="1371600"/>
            <a:ext cx="4114800" cy="3333900"/>
          </a:xfrm>
          <a:prstGeom prst="roundRect">
            <a:avLst>
              <a:gd fmla="val 2285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Lessons Learned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438150" y="1466850"/>
            <a:ext cx="3924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6653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</a:t>
            </a:r>
            <a:r>
              <a:rPr b="1" lang="en" sz="1800">
                <a:solidFill>
                  <a:srgbClr val="16653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heck_circle	</a:t>
            </a:r>
            <a:r>
              <a:rPr b="1" lang="en" sz="14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What worked</a:t>
            </a:r>
            <a:endParaRPr b="1" sz="1400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38150" y="1905000"/>
            <a:ext cx="39243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torch.compile: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2.5x speedup on ttm_forward. Kernel fusion eliminated 19,032 CUDA launches.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Direct model calls: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Replacing HF Trainer eliminated DataLoader and memcpy overhead per inference.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Model pre-loading: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Reduced loading time from ~23</a:t>
            </a:r>
            <a:r>
              <a:rPr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ms to ~2</a:t>
            </a:r>
            <a:r>
              <a:rPr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ms (9x faster per tool call).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GPU placement: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Unlocked additional 1.3x speedup; total 3.3x vs baseline.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4791075" y="1466850"/>
            <a:ext cx="3924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A341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</a:t>
            </a:r>
            <a:r>
              <a:rPr b="1" lang="en" sz="1800">
                <a:solidFill>
                  <a:srgbClr val="9A341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ancel	</a:t>
            </a:r>
            <a:r>
              <a:rPr b="1" lang="en" sz="140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What didn't work</a:t>
            </a:r>
            <a:endParaRPr b="1" sz="1400">
              <a:solidFill>
                <a:srgbClr val="9A34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4791075" y="1905000"/>
            <a:ext cx="39243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bf16 precision: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Performance dropped (15,272ms vs 12,293ms fp32). TTM's MLP structure didn't benefit Tensor Cores.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Batching: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impact. Orchestrator LLM passes sensors in a single call, leaving no serial behavior to collapse.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GPU Idle Assumption: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TTM is CPU-optimized by IBM; GPU gains are modest unlike attention-based models.</a:t>
            </a:r>
            <a:endParaRPr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342900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342900" y="895350"/>
            <a:ext cx="8229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Time budget: 1 minute. What surprised you? What didn't work? Be honest.</a:t>
            </a:r>
            <a:endParaRPr b="0" i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10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342900" y="1371600"/>
            <a:ext cx="8458200" cy="952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342900" y="2419350"/>
            <a:ext cx="8458200" cy="952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342900" y="3467100"/>
            <a:ext cx="8458200" cy="952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Next Steps</a:t>
            </a:r>
            <a:endParaRPr b="1" sz="2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42900" y="895350"/>
            <a:ext cx="8229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Time budget: 30 seconds. Be specific — vague "more experiments" is not next steps.</a:t>
            </a:r>
            <a:endParaRPr b="0" i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6" name="Google Shape;206;p17"/>
          <p:cNvGrpSpPr/>
          <p:nvPr/>
        </p:nvGrpSpPr>
        <p:grpSpPr>
          <a:xfrm>
            <a:off x="533400" y="1466850"/>
            <a:ext cx="8096250" cy="797052"/>
            <a:chOff x="533400" y="1466850"/>
            <a:chExt cx="8096250" cy="797052"/>
          </a:xfrm>
        </p:grpSpPr>
        <p:sp>
          <p:nvSpPr>
            <p:cNvPr id="207" name="Google Shape;207;p17"/>
            <p:cNvSpPr txBox="1"/>
            <p:nvPr/>
          </p:nvSpPr>
          <p:spPr>
            <a:xfrm>
              <a:off x="533400" y="1501902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1009650" y="14668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FastAPI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Concurrent tool calls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533400" y="2514600"/>
            <a:ext cx="8096250" cy="797052"/>
            <a:chOff x="533400" y="2514600"/>
            <a:chExt cx="8096250" cy="797052"/>
          </a:xfrm>
        </p:grpSpPr>
        <p:sp>
          <p:nvSpPr>
            <p:cNvPr id="210" name="Google Shape;210;p17"/>
            <p:cNvSpPr txBox="1"/>
            <p:nvPr/>
          </p:nvSpPr>
          <p:spPr>
            <a:xfrm>
              <a:off x="533400" y="2549652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1009650" y="25146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INT8 Quantization via bitsandbytes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Reduce ttm_forward memory bandwidth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17"/>
          <p:cNvGrpSpPr/>
          <p:nvPr/>
        </p:nvGrpSpPr>
        <p:grpSpPr>
          <a:xfrm>
            <a:off x="533400" y="3562350"/>
            <a:ext cx="8096250" cy="797052"/>
            <a:chOff x="533400" y="3562350"/>
            <a:chExt cx="8096250" cy="797052"/>
          </a:xfrm>
        </p:grpSpPr>
        <p:sp>
          <p:nvSpPr>
            <p:cNvPr id="213" name="Google Shape;213;p17"/>
            <p:cNvSpPr txBox="1"/>
            <p:nvPr/>
          </p:nvSpPr>
          <p:spPr>
            <a:xfrm>
              <a:off x="533400" y="3597402"/>
              <a:ext cx="38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1009650" y="356235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Full AssetOpsBench Evaluation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Extend to scenarios 216-223 using official chiller9 dataset once access is obtained from IBM.</a:t>
              </a:r>
              <a:endParaRPr b="0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5" name="Google Shape;215;p17"/>
          <p:cNvSpPr/>
          <p:nvPr/>
        </p:nvSpPr>
        <p:spPr>
          <a:xfrm>
            <a:off x="342900" y="4903470"/>
            <a:ext cx="411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HPML · Spring 2026</a:t>
            </a:r>
            <a:endParaRPr b="0" i="1" sz="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11 / 14</a:t>
            </a:r>
            <a:endParaRPr b="0" sz="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Teamwork &amp; Contributions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18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8"/>
          <p:cNvSpPr/>
          <p:nvPr/>
        </p:nvSpPr>
        <p:spPr>
          <a:xfrm>
            <a:off x="342900" y="994410"/>
            <a:ext cx="8229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Time budget: 30 seconds. Who did what. Required slide — graded individually.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8"/>
          <p:cNvGraphicFramePr/>
          <p:nvPr/>
        </p:nvGraphicFramePr>
        <p:xfrm>
          <a:off x="3429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{B523DA0D-3247-4FCA-89C2-B215055A475C}</a:tableStyleId>
              </a:tblPr>
              <a:tblGrid>
                <a:gridCol w="1508750"/>
                <a:gridCol w="3771900"/>
                <a:gridCol w="3175250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contributions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 / artifacts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Alisha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sweep, </a:t>
                      </a: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Wandb logging, mixed precision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baseline_profile.py, baseline_sweep.py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Thomas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writing, results analysis, figures, resolving dependency/integration conflicts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Jonathan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caching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forecasting.py, model_cache.py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Sanjaii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Initial baseline setup, building configurations, testing out the plan-execute pipeline, brainstorming ideas for optimization.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18"/>
          <p:cNvSpPr/>
          <p:nvPr/>
        </p:nvSpPr>
        <p:spPr>
          <a:xfrm>
            <a:off x="342900" y="4423410"/>
            <a:ext cx="84559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Collaboration: regular [twice-weekly] meetings via [n person], shared [</a:t>
            </a:r>
            <a:r>
              <a:rPr i="1"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] channel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F26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411480" y="16459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411480" y="240030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CC4"/>
              </a:buClr>
              <a:buSzPts val="2100"/>
              <a:buFont typeface="Calibri"/>
              <a:buNone/>
            </a:pPr>
            <a:r>
              <a:rPr b="0" i="1" lang="en" sz="2100" u="none" cap="none" strike="noStrike">
                <a:solidFill>
                  <a:srgbClr val="B8BCC4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11480" y="34290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https://github.com/alishavinod/AssetOpsBench/tree/baseline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Tracking: 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https://wandb.ai/av3311-columbia-university/hpml-tsfm-optimization/workspace?nw=nwuserav3311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9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E939A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